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10896" cy="54864"/>
          </a:xfrm>
          <a:prstGeom prst="rect">
            <a:avLst/>
          </a:prstGeom>
          <a:solidFill>
            <a:srgbClr val="8A8F95"/>
          </a:solidFill>
          <a:ln>
            <a:solidFill>
              <a:srgbClr val="8A8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2688" y="502920"/>
            <a:ext cx="310896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98448" y="502920"/>
            <a:ext cx="658368" cy="54864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386048" y="566928"/>
            <a:ext cx="1335024" cy="457200"/>
          </a:xfrm>
          <a:prstGeom prst="rect">
            <a:avLst/>
          </a:prstGeom>
          <a:solidFill>
            <a:srgbClr val="061B3A"/>
          </a:solidFill>
          <a:ln>
            <a:solidFill>
              <a:srgbClr val="061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596359" y="62179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RSM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87552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99D8"/>
                </a:solidFill>
                <a:latin typeface="Noto Sans SC"/>
              </a:rPr>
              <a:t>董　事　会　汇　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01952"/>
            <a:ext cx="1371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061B3A"/>
                </a:solidFill>
                <a:latin typeface="Noto Sans SC"/>
              </a:rPr>
              <a:t>苏州农村商业银行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423160"/>
            <a:ext cx="15544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>
                <a:solidFill>
                  <a:srgbClr val="0099D8"/>
                </a:solidFill>
                <a:latin typeface="Noto Sans SC"/>
              </a:rPr>
              <a:t>价值创造与经营对标分析汇报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79392"/>
            <a:ext cx="1554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061B3A"/>
                </a:solidFill>
                <a:latin typeface="Noto Sans SC"/>
              </a:rPr>
              <a:t>经营视角与资本市场视角的双重穿透分析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074920"/>
            <a:ext cx="10607040" cy="1600200"/>
          </a:xfrm>
          <a:prstGeom prst="rect">
            <a:avLst/>
          </a:prstGeom>
          <a:solidFill>
            <a:srgbClr val="F7F8FA"/>
          </a:solidFill>
          <a:ln>
            <a:solidFill>
              <a:srgbClr val="F7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5074920"/>
            <a:ext cx="64008" cy="1600200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285232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本汇报采用 RSM 银行价值质量评估体系（VQA），重估 苏州农村商业银行 2025 年 ROA 0.92% 的可持续性，并以 PB、市净率和同业指标进行交叉验证。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234672" y="4983480"/>
            <a:ext cx="5166360" cy="2514600"/>
          </a:xfrm>
          <a:prstGeom prst="rect">
            <a:avLst/>
          </a:prstGeom>
          <a:solidFill>
            <a:srgbClr val="F7F8FA"/>
          </a:solidFill>
          <a:ln>
            <a:solidFill>
              <a:srgbClr val="F7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234672" y="4983480"/>
            <a:ext cx="5166360" cy="64008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08992" y="5212080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9D8"/>
                </a:solidFill>
                <a:latin typeface="Noto Sans SC"/>
              </a:rPr>
              <a:t>报告元数据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08992" y="5605272"/>
            <a:ext cx="4617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F3A4A"/>
                </a:solidFill>
                <a:latin typeface="Noto Sans SC"/>
              </a:rPr>
              <a:t>报告期：2026 年 5 月
报告口径：2020—2025
沟通对象：董事会 / 董事长
目标银行：苏州农村商业银行
对标样本：9 家银行
数据来源：iFinD · 上市公司年报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8321040"/>
            <a:ext cx="1627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F3A4A"/>
                </a:solidFill>
                <a:latin typeface="Noto Sans SC"/>
              </a:rPr>
              <a:t>阅读路径 · 研究口径 → 执行摘要 → VQA 框架 → 行业坐标 → 专题分析 → 行动方案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9336024"/>
            <a:ext cx="171632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Inter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10896" cy="54864"/>
          </a:xfrm>
          <a:prstGeom prst="rect">
            <a:avLst/>
          </a:prstGeom>
          <a:solidFill>
            <a:srgbClr val="8A8F95"/>
          </a:solidFill>
          <a:ln>
            <a:solidFill>
              <a:srgbClr val="8A8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2688" y="502920"/>
            <a:ext cx="310896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98448" y="502920"/>
            <a:ext cx="658368" cy="54864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4443984" cy="6858000"/>
          </a:xfrm>
          <a:prstGeom prst="rect">
            <a:avLst/>
          </a:prstGeom>
          <a:solidFill>
            <a:srgbClr val="F7F8FA"/>
          </a:solidFill>
          <a:ln>
            <a:solidFill>
              <a:srgbClr val="F7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207008"/>
            <a:ext cx="64008" cy="6858000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0099D8"/>
                </a:solidFill>
                <a:latin typeface="Noto Sans SC"/>
              </a:rPr>
              <a:t>目录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240280"/>
            <a:ext cx="37947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本报告按 SCQA 节拍展开：先给出经营事实，再解释价值质量差异，最后落到 12 个月管理动作。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7024" y="201168"/>
            <a:ext cx="11823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61B3A"/>
                </a:solidFill>
                <a:latin typeface="Noto Sans SC"/>
              </a:rPr>
              <a:t>P02 · 报告导航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6168" y="173736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99D8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64792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摘要与价值质量评估体系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6168" y="2505456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99D8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532887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行业坐标与同业对标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6168" y="32735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99D8"/>
                </a:solidFill>
                <a:latin typeface="Inte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300984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盈利质量与轻资本收入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6168" y="404164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99D8"/>
                </a:solidFill>
                <a:latin typeface="Inte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069080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息差防守与负债底盘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6168" y="480974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99D8"/>
                </a:solidFill>
                <a:latin typeface="Inter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837176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风险确认与拨备缓冲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6168" y="557784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099D8"/>
                </a:solidFill>
                <a:latin typeface="Inter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605272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资本纪律与市场定价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9985248"/>
            <a:ext cx="7315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67085"/>
                </a:solidFill>
                <a:latin typeface="Noto Sans SC"/>
              </a:rPr>
              <a:t>数据来源：iFinD · 上市公司年报 · RSM 整理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9948672"/>
            <a:ext cx="594360" cy="246888"/>
          </a:xfrm>
          <a:prstGeom prst="rect">
            <a:avLst/>
          </a:prstGeom>
          <a:solidFill>
            <a:srgbClr val="061B3A"/>
          </a:solidFill>
          <a:ln>
            <a:solidFill>
              <a:srgbClr val="061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0" y="996696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Inter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B"/>
          </a:solidFill>
          <a:ln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28600"/>
            <a:ext cx="73152" cy="73152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202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61B3A"/>
                </a:solidFill>
                <a:latin typeface="Noto Sans SC"/>
              </a:rPr>
              <a:t>① 摘要 + RSM VQA 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92024"/>
            <a:ext cx="6675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Noto Sans SC"/>
              </a:rPr>
              <a:t>P03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14400"/>
            <a:ext cx="566928" cy="36576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645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0099D8"/>
                </a:solidFill>
                <a:latin typeface="Noto Sans SC"/>
              </a:rPr>
              <a:t>苏州农村商业银行 2025 年 · 4 项关键绩效指标全景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10512"/>
            <a:ext cx="1645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667085"/>
                </a:solidFill>
                <a:latin typeface="Noto Sans SC"/>
              </a:rPr>
              <a:t>阅读路径：行业坐标 → 4 项 KPI → 经营视角与资本市场视角结论 → 战略行动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3977639" cy="54864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ROA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0.92%
账面回报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82896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82896" y="2743200"/>
            <a:ext cx="3977639" cy="54864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6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核心营收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-1.58%
主业修复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98863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98863" y="2743200"/>
            <a:ext cx="3977639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1743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息差缺口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3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-13.8bp
资产负债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514832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514832" y="2743200"/>
            <a:ext cx="3977639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697711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PB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97711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0.55倍
市场定价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623560"/>
            <a:ext cx="813816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5623560"/>
            <a:ext cx="8138160" cy="54864"/>
          </a:xfrm>
          <a:prstGeom prst="rect">
            <a:avLst/>
          </a:prstGeom>
          <a:solidFill>
            <a:srgbClr val="061B3A"/>
          </a:solidFill>
          <a:ln>
            <a:solidFill>
              <a:srgbClr val="061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7881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经营视角结论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6300216"/>
            <a:ext cx="77724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苏州农村商业银行当前判断应先回到指标事实，再解释形成机制。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5623560"/>
            <a:ext cx="813816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26880" y="5623560"/>
            <a:ext cx="8138160" cy="54864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59" y="57881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董事会关注事项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59" y="6300216"/>
            <a:ext cx="77724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建议把本页指标纳入后续季度复盘，明确责任部门、目标区间和复核频率。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9985248"/>
            <a:ext cx="7315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67085"/>
                </a:solidFill>
                <a:latin typeface="Noto Sans SC"/>
              </a:rPr>
              <a:t>数据来源：iFinD · 上市公司年报 · RSM 整理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9948672"/>
            <a:ext cx="594360" cy="246888"/>
          </a:xfrm>
          <a:prstGeom prst="rect">
            <a:avLst/>
          </a:prstGeom>
          <a:solidFill>
            <a:srgbClr val="061B3A"/>
          </a:solidFill>
          <a:ln>
            <a:solidFill>
              <a:srgbClr val="061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276320" y="996696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Inter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B"/>
          </a:solidFill>
          <a:ln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28600"/>
            <a:ext cx="73152" cy="73152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202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61B3A"/>
                </a:solidFill>
                <a:latin typeface="Noto Sans SC"/>
              </a:rPr>
              <a:t>研究口径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92024"/>
            <a:ext cx="6675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Noto Sans SC"/>
              </a:rPr>
              <a:t>P04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14400"/>
            <a:ext cx="566928" cy="36576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645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0099D8"/>
                </a:solidFill>
                <a:latin typeface="Noto Sans SC"/>
              </a:rPr>
              <a:t>研究口径、对标样本与指标定义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10512"/>
            <a:ext cx="1645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667085"/>
                </a:solidFill>
                <a:latin typeface="Noto Sans SC"/>
              </a:rPr>
              <a:t>苏州农村商业银行｜目标银行 + 对标银行｜2020—2025 年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3977639" cy="54864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样本边界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苏州农村商业银行
9 家银行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82896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82896" y="2743200"/>
            <a:ext cx="3977639" cy="54864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6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数据口径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2020—2025
年报 / iFinD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98863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98863" y="2743200"/>
            <a:ext cx="3977639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1743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方法论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3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VQA
ROA → RAROC → EVA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623560"/>
            <a:ext cx="813816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623560"/>
            <a:ext cx="8138160" cy="54864"/>
          </a:xfrm>
          <a:prstGeom prst="rect">
            <a:avLst/>
          </a:prstGeom>
          <a:solidFill>
            <a:srgbClr val="061B3A"/>
          </a:solidFill>
          <a:ln>
            <a:solidFill>
              <a:srgbClr val="061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7881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经营视角结论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6300216"/>
            <a:ext cx="77724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苏州农村商业银行当前判断应先回到指标事实，再解释形成机制。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5623560"/>
            <a:ext cx="813816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26880" y="5623560"/>
            <a:ext cx="8138160" cy="54864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59" y="57881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董事会关注事项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6300216"/>
            <a:ext cx="77724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建议把本页指标纳入后续季度复盘，明确责任部门、目标区间和复核频率。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9985248"/>
            <a:ext cx="7315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67085"/>
                </a:solidFill>
                <a:latin typeface="Noto Sans SC"/>
              </a:rPr>
              <a:t>数据来源：iFinD · 上市公司年报 · RSM 整理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9948672"/>
            <a:ext cx="594360" cy="246888"/>
          </a:xfrm>
          <a:prstGeom prst="rect">
            <a:avLst/>
          </a:prstGeom>
          <a:solidFill>
            <a:srgbClr val="061B3A"/>
          </a:solidFill>
          <a:ln>
            <a:solidFill>
              <a:srgbClr val="061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0" y="996696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Inter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B"/>
          </a:solidFill>
          <a:ln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28600"/>
            <a:ext cx="73152" cy="73152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202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61B3A"/>
                </a:solidFill>
                <a:latin typeface="Noto Sans SC"/>
              </a:rPr>
              <a:t>② 行业坐标与同业对标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92024"/>
            <a:ext cx="6675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Noto Sans SC"/>
              </a:rPr>
              <a:t>P05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14400"/>
            <a:ext cx="566928" cy="36576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645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0099D8"/>
                </a:solidFill>
                <a:latin typeface="Noto Sans SC"/>
              </a:rPr>
              <a:t>苏州农村商业银行需要同时解释账面位次和结构位次的差异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10512"/>
            <a:ext cx="1645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667085"/>
                </a:solidFill>
                <a:latin typeface="Noto Sans SC"/>
              </a:rPr>
              <a:t>模块小结页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3977639" cy="54864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ROA排名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3 / 9
0.92%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82896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82896" y="2743200"/>
            <a:ext cx="3977639" cy="54864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6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PB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0.55倍
市场读数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98863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98863" y="2743200"/>
            <a:ext cx="3977639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1743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拨备覆盖率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3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370.17%
风险缓冲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623560"/>
            <a:ext cx="813816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623560"/>
            <a:ext cx="8138160" cy="54864"/>
          </a:xfrm>
          <a:prstGeom prst="rect">
            <a:avLst/>
          </a:prstGeom>
          <a:solidFill>
            <a:srgbClr val="061B3A"/>
          </a:solidFill>
          <a:ln>
            <a:solidFill>
              <a:srgbClr val="061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7881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经营视角结论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6300216"/>
            <a:ext cx="77724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苏州农村商业银行当前判断应先回到指标事实，再解释形成机制。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5623560"/>
            <a:ext cx="813816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26880" y="5623560"/>
            <a:ext cx="8138160" cy="54864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59" y="57881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董事会关注事项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6300216"/>
            <a:ext cx="77724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建议把本页指标纳入后续季度复盘，明确责任部门、目标区间和复核频率。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9985248"/>
            <a:ext cx="7315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67085"/>
                </a:solidFill>
                <a:latin typeface="Noto Sans SC"/>
              </a:rPr>
              <a:t>数据来源：iFinD · 上市公司年报 · RSM 整理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9948672"/>
            <a:ext cx="594360" cy="246888"/>
          </a:xfrm>
          <a:prstGeom prst="rect">
            <a:avLst/>
          </a:prstGeom>
          <a:solidFill>
            <a:srgbClr val="061B3A"/>
          </a:solidFill>
          <a:ln>
            <a:solidFill>
              <a:srgbClr val="061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0" y="996696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Inter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B"/>
          </a:solidFill>
          <a:ln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28600"/>
            <a:ext cx="73152" cy="73152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202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61B3A"/>
                </a:solidFill>
                <a:latin typeface="Noto Sans SC"/>
              </a:rPr>
              <a:t>③ 盈利质量穿透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92024"/>
            <a:ext cx="6675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Noto Sans SC"/>
              </a:rPr>
              <a:t>P06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14400"/>
            <a:ext cx="566928" cy="36576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645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0099D8"/>
                </a:solidFill>
                <a:latin typeface="Noto Sans SC"/>
              </a:rPr>
              <a:t>盈利质量与轻资本收入穿透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10512"/>
            <a:ext cx="1645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667085"/>
                </a:solidFill>
                <a:latin typeface="Noto Sans SC"/>
              </a:rPr>
              <a:t>核心营收、手续费资产比、拨备前利润共同决定利润质量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3977639" cy="54864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核心营收同比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-1.58%
0.11%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82896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82896" y="2743200"/>
            <a:ext cx="3977639" cy="54864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6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手续费资产比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0.038%
0.073%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98863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98863" y="2743200"/>
            <a:ext cx="3977639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1743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PPOP增速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3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1.97%
1.29%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623560"/>
            <a:ext cx="813816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623560"/>
            <a:ext cx="8138160" cy="54864"/>
          </a:xfrm>
          <a:prstGeom prst="rect">
            <a:avLst/>
          </a:prstGeom>
          <a:solidFill>
            <a:srgbClr val="061B3A"/>
          </a:solidFill>
          <a:ln>
            <a:solidFill>
              <a:srgbClr val="061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7881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经营视角结论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6300216"/>
            <a:ext cx="77724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苏州农村商业银行当前判断应先回到指标事实，再解释形成机制。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5623560"/>
            <a:ext cx="813816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26880" y="5623560"/>
            <a:ext cx="8138160" cy="54864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59" y="57881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董事会关注事项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6300216"/>
            <a:ext cx="77724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建议把本页指标纳入后续季度复盘，明确责任部门、目标区间和复核频率。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9985248"/>
            <a:ext cx="7315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67085"/>
                </a:solidFill>
                <a:latin typeface="Noto Sans SC"/>
              </a:rPr>
              <a:t>数据来源：iFinD · 上市公司年报 · RSM 整理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9948672"/>
            <a:ext cx="594360" cy="246888"/>
          </a:xfrm>
          <a:prstGeom prst="rect">
            <a:avLst/>
          </a:prstGeom>
          <a:solidFill>
            <a:srgbClr val="061B3A"/>
          </a:solidFill>
          <a:ln>
            <a:solidFill>
              <a:srgbClr val="061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0" y="996696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Inter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B"/>
          </a:solidFill>
          <a:ln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28600"/>
            <a:ext cx="73152" cy="73152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202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61B3A"/>
                </a:solidFill>
                <a:latin typeface="Noto Sans SC"/>
              </a:rPr>
              <a:t>④ 息差负债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92024"/>
            <a:ext cx="6675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Noto Sans SC"/>
              </a:rPr>
              <a:t>P07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14400"/>
            <a:ext cx="566928" cy="36576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645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0099D8"/>
                </a:solidFill>
                <a:latin typeface="Noto Sans SC"/>
              </a:rPr>
              <a:t>息差防守与负债底盘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10512"/>
            <a:ext cx="1645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667085"/>
                </a:solidFill>
                <a:latin typeface="Noto Sans SC"/>
              </a:rPr>
              <a:t>资产端让价与负债端降本需要放在同一张表里阅读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3977639" cy="54864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净息差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1.41%
1.51%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82896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82896" y="2743200"/>
            <a:ext cx="3977639" cy="54864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6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生息资产收益率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3.17%
3.17%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98863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98863" y="2743200"/>
            <a:ext cx="3977639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1743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计息负债成本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3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1.62%
1.72%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623560"/>
            <a:ext cx="813816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623560"/>
            <a:ext cx="8138160" cy="54864"/>
          </a:xfrm>
          <a:prstGeom prst="rect">
            <a:avLst/>
          </a:prstGeom>
          <a:solidFill>
            <a:srgbClr val="061B3A"/>
          </a:solidFill>
          <a:ln>
            <a:solidFill>
              <a:srgbClr val="061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7881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经营视角结论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6300216"/>
            <a:ext cx="77724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苏州农村商业银行当前判断应先回到指标事实，再解释形成机制。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5623560"/>
            <a:ext cx="813816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26880" y="5623560"/>
            <a:ext cx="8138160" cy="54864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59" y="57881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董事会关注事项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6300216"/>
            <a:ext cx="77724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建议把本页指标纳入后续季度复盘，明确责任部门、目标区间和复核频率。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9985248"/>
            <a:ext cx="7315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67085"/>
                </a:solidFill>
                <a:latin typeface="Noto Sans SC"/>
              </a:rPr>
              <a:t>数据来源：iFinD · 上市公司年报 · RSM 整理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9948672"/>
            <a:ext cx="594360" cy="246888"/>
          </a:xfrm>
          <a:prstGeom prst="rect">
            <a:avLst/>
          </a:prstGeom>
          <a:solidFill>
            <a:srgbClr val="061B3A"/>
          </a:solidFill>
          <a:ln>
            <a:solidFill>
              <a:srgbClr val="061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0" y="996696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Inter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B"/>
          </a:solidFill>
          <a:ln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28600"/>
            <a:ext cx="73152" cy="73152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202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61B3A"/>
                </a:solidFill>
                <a:latin typeface="Noto Sans SC"/>
              </a:rPr>
              <a:t>⑤ 风险拨备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92024"/>
            <a:ext cx="6675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Noto Sans SC"/>
              </a:rPr>
              <a:t>P08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14400"/>
            <a:ext cx="566928" cy="36576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645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0099D8"/>
                </a:solidFill>
                <a:latin typeface="Noto Sans SC"/>
              </a:rPr>
              <a:t>风险确认与拨备缓冲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10512"/>
            <a:ext cx="1645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667085"/>
                </a:solidFill>
                <a:latin typeface="Noto Sans SC"/>
              </a:rPr>
              <a:t>不良率、逾期偏离度与拨备覆盖率共同决定利润质量边界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3977639" cy="54864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不良率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0.88%
0.92%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82896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82896" y="2743200"/>
            <a:ext cx="3977639" cy="54864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6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偏离度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1.26倍
1.60倍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98863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98863" y="2743200"/>
            <a:ext cx="3977639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1743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拨备覆盖率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3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370.17%
349.92%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623560"/>
            <a:ext cx="813816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623560"/>
            <a:ext cx="8138160" cy="54864"/>
          </a:xfrm>
          <a:prstGeom prst="rect">
            <a:avLst/>
          </a:prstGeom>
          <a:solidFill>
            <a:srgbClr val="061B3A"/>
          </a:solidFill>
          <a:ln>
            <a:solidFill>
              <a:srgbClr val="061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7881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经营视角结论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6300216"/>
            <a:ext cx="77724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苏州农村商业银行当前判断应先回到指标事实，再解释形成机制。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5623560"/>
            <a:ext cx="813816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26880" y="5623560"/>
            <a:ext cx="8138160" cy="54864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59" y="57881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董事会关注事项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6300216"/>
            <a:ext cx="77724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建议把本页指标纳入后续季度复盘，明确责任部门、目标区间和复核频率。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9985248"/>
            <a:ext cx="7315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67085"/>
                </a:solidFill>
                <a:latin typeface="Noto Sans SC"/>
              </a:rPr>
              <a:t>数据来源：iFinD · 上市公司年报 · RSM 整理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9948672"/>
            <a:ext cx="594360" cy="246888"/>
          </a:xfrm>
          <a:prstGeom prst="rect">
            <a:avLst/>
          </a:prstGeom>
          <a:solidFill>
            <a:srgbClr val="061B3A"/>
          </a:solidFill>
          <a:ln>
            <a:solidFill>
              <a:srgbClr val="061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0" y="996696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Inter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B"/>
          </a:solidFill>
          <a:ln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28600"/>
            <a:ext cx="73152" cy="73152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202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61B3A"/>
                </a:solidFill>
                <a:latin typeface="Noto Sans SC"/>
              </a:rPr>
              <a:t>⑥ 资本估值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92024"/>
            <a:ext cx="6675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Noto Sans SC"/>
              </a:rPr>
              <a:t>P09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14400"/>
            <a:ext cx="566928" cy="36576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645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0099D8"/>
                </a:solidFill>
                <a:latin typeface="Noto Sans SC"/>
              </a:rPr>
              <a:t>苏州农村商业银行的 PB 解释必须回到经营质量、风险确认和资本余量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10512"/>
            <a:ext cx="1645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667085"/>
                </a:solidFill>
                <a:latin typeface="Noto Sans SC"/>
              </a:rPr>
              <a:t>模块小结页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3977639" cy="54864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CET1缓冲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315bp
资本安全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82896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82896" y="2743200"/>
            <a:ext cx="3977639" cy="54864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6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RWA密度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70.15%
资本消耗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98863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98863" y="2743200"/>
            <a:ext cx="3977639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1743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PB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3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0.55倍
市场定价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623560"/>
            <a:ext cx="813816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623560"/>
            <a:ext cx="8138160" cy="54864"/>
          </a:xfrm>
          <a:prstGeom prst="rect">
            <a:avLst/>
          </a:prstGeom>
          <a:solidFill>
            <a:srgbClr val="061B3A"/>
          </a:solidFill>
          <a:ln>
            <a:solidFill>
              <a:srgbClr val="061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7881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经营视角结论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6300216"/>
            <a:ext cx="77724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苏州农村商业银行当前判断应先回到指标事实，再解释形成机制。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5623560"/>
            <a:ext cx="813816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26880" y="5623560"/>
            <a:ext cx="8138160" cy="54864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59" y="57881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董事会关注事项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6300216"/>
            <a:ext cx="77724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建议把本页指标纳入后续季度复盘，明确责任部门、目标区间和复核频率。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9985248"/>
            <a:ext cx="7315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67085"/>
                </a:solidFill>
                <a:latin typeface="Noto Sans SC"/>
              </a:rPr>
              <a:t>数据来源：iFinD · 上市公司年报 · RSM 整理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9948672"/>
            <a:ext cx="594360" cy="246888"/>
          </a:xfrm>
          <a:prstGeom prst="rect">
            <a:avLst/>
          </a:prstGeom>
          <a:solidFill>
            <a:srgbClr val="061B3A"/>
          </a:solidFill>
          <a:ln>
            <a:solidFill>
              <a:srgbClr val="061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0" y="996696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Inter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9FB"/>
          </a:solidFill>
          <a:ln>
            <a:solidFill>
              <a:srgbClr val="F8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28600"/>
            <a:ext cx="73152" cy="73152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202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61B3A"/>
                </a:solidFill>
                <a:latin typeface="Noto Sans SC"/>
              </a:rPr>
              <a:t>行动建议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92024"/>
            <a:ext cx="6675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Noto Sans SC"/>
              </a:rPr>
              <a:t>P10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14400"/>
            <a:ext cx="566928" cy="36576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64592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0099D8"/>
                </a:solidFill>
                <a:latin typeface="Noto Sans SC"/>
              </a:rPr>
              <a:t>12 个月行动建议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10512"/>
            <a:ext cx="16459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667085"/>
                </a:solidFill>
                <a:latin typeface="Noto Sans SC"/>
              </a:rPr>
              <a:t>把 VQA 诊断转成董事会可以批准、管理层可以承接的动作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3977639" cy="54864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0—3个月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冻结口径
复核数据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82896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82896" y="2743200"/>
            <a:ext cx="3977639" cy="54864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6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3—6个月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拆解缺口
部门承接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98863" y="274320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98863" y="2743200"/>
            <a:ext cx="3977639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1743" y="2907792"/>
            <a:ext cx="3611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6—12个月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3" y="3419856"/>
            <a:ext cx="3611879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指标追踪
季度复盘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623560"/>
            <a:ext cx="813816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623560"/>
            <a:ext cx="8138160" cy="54864"/>
          </a:xfrm>
          <a:prstGeom prst="rect">
            <a:avLst/>
          </a:prstGeom>
          <a:solidFill>
            <a:srgbClr val="061B3A"/>
          </a:solidFill>
          <a:ln>
            <a:solidFill>
              <a:srgbClr val="061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7881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经营视角结论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6300216"/>
            <a:ext cx="77724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苏州农村商业银行当前判断应先回到指标事实，再解释形成机制。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5623560"/>
            <a:ext cx="813816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26880" y="5623560"/>
            <a:ext cx="8138160" cy="54864"/>
          </a:xfrm>
          <a:prstGeom prst="rect">
            <a:avLst/>
          </a:prstGeom>
          <a:solidFill>
            <a:srgbClr val="0099D8"/>
          </a:solidFill>
          <a:ln>
            <a:solidFill>
              <a:srgbClr val="009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59" y="57881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1B3A"/>
                </a:solidFill>
                <a:latin typeface="Noto Sans SC"/>
              </a:rPr>
              <a:t>董事会关注事项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6300216"/>
            <a:ext cx="77724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F3A4A"/>
                </a:solidFill>
                <a:latin typeface="Noto Sans SC"/>
              </a:rPr>
              <a:t>建议把本页指标纳入后续季度复盘，明确责任部门、目标区间和复核频率。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9985248"/>
            <a:ext cx="7315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667085"/>
                </a:solidFill>
                <a:latin typeface="Noto Sans SC"/>
              </a:rPr>
              <a:t>数据来源：iFinD · 上市公司年报 · RSM 整理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9948672"/>
            <a:ext cx="594360" cy="246888"/>
          </a:xfrm>
          <a:prstGeom prst="rect">
            <a:avLst/>
          </a:prstGeom>
          <a:solidFill>
            <a:srgbClr val="061B3A"/>
          </a:solidFill>
          <a:ln>
            <a:solidFill>
              <a:srgbClr val="061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0" y="996696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Inter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